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62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766038" y="527538"/>
            <a:ext cx="4825512" cy="4444512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66038" y="3336818"/>
            <a:ext cx="1811802" cy="417599"/>
          </a:xfrm>
          <a:prstGeom prst="rect">
            <a:avLst/>
          </a:prstGeom>
          <a:solidFill>
            <a:srgbClr val="DFF2C7"/>
          </a:solidFill>
          <a:ln w="9525">
            <a:solidFill>
              <a:srgbClr val="8FB6FF"/>
            </a:solidFill>
          </a:ln>
        </p:spPr>
        <p:txBody>
          <a:bodyPr wrap="square" lIns="171450" tIns="171450" rIns="171450" bIns="17145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8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(Paper ID: 158)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66700" y="431453"/>
            <a:ext cx="13260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2450" y="457200"/>
            <a:ext cx="8039100" cy="39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9"/>
              </a:lnSpc>
              <a:buNone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Conference on Sustainable AI</a:t>
            </a:r>
            <a:endParaRPr lang="en-US" dirty="0"/>
          </a:p>
          <a:p>
            <a:pPr marL="0" indent="0" algn="ctr">
              <a:lnSpc>
                <a:spcPts val="3009"/>
              </a:lnSpc>
              <a:buNone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Cybersecurity (ICSAICS-2026)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046" y="1411784"/>
            <a:ext cx="8926234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Organized by</a:t>
            </a:r>
            <a:endParaRPr lang="en-US" dirty="0"/>
          </a:p>
          <a:p>
            <a:pPr marL="0" indent="0" algn="ctr">
              <a:lnSpc>
                <a:spcPts val="2880"/>
              </a:lnSpc>
              <a:buNone/>
            </a:pPr>
            <a:r>
              <a:rPr lang="en-US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and Engineering,</a:t>
            </a:r>
            <a:endParaRPr lang="en-US" dirty="0"/>
          </a:p>
          <a:p>
            <a:pPr marL="0" indent="0" algn="ctr">
              <a:lnSpc>
                <a:spcPts val="2880"/>
              </a:lnSpc>
              <a:buNone/>
            </a:pPr>
            <a:r>
              <a:rPr lang="en-US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JIMS, Greater Noida</a:t>
            </a:r>
            <a:endParaRPr lang="en-US" dirty="0"/>
          </a:p>
          <a:p>
            <a:pPr marL="0" indent="0" algn="ctr">
              <a:lnSpc>
                <a:spcPts val="2880"/>
              </a:lnSpc>
              <a:buNone/>
            </a:pPr>
            <a:r>
              <a:rPr lang="en-US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(8</a:t>
            </a:r>
            <a:r>
              <a:rPr lang="en-US" b="1" baseline="30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</a:t>
            </a:r>
            <a:r>
              <a:rPr lang="en-US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&amp; 9</a:t>
            </a:r>
            <a:r>
              <a:rPr lang="en-US" b="1" baseline="30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</a:t>
            </a:r>
            <a:r>
              <a:rPr lang="en-US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April 2026)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52450" y="2848457"/>
            <a:ext cx="8096250" cy="488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Fashion Advisor: An AI-Based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Occasion-Oriented Dress Recommendation System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1488" y="7028706"/>
            <a:ext cx="82581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-1148080" y="3754418"/>
            <a:ext cx="11206480" cy="314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Anugya Gupta, Ananya Srivastava, Ayushi Jaiswal,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Avanish Prasad and Rahul Kumar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2450" y="4028331"/>
            <a:ext cx="8096250" cy="34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800" dirty="0">
                <a:solidFill>
                  <a:srgbClr val="153C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Krishna Institute of Engineering &amp; Technology, Dept. of CSE,</a:t>
            </a:r>
            <a:endParaRPr lang="en-US" sz="1800" dirty="0"/>
          </a:p>
          <a:p>
            <a:pPr marL="0" indent="0" algn="ctr">
              <a:lnSpc>
                <a:spcPts val="1620"/>
              </a:lnSpc>
              <a:buNone/>
            </a:pPr>
            <a:r>
              <a:rPr lang="en-US" sz="1800" dirty="0">
                <a:solidFill>
                  <a:srgbClr val="153C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Ghaziabad, Delhi-NCR, Uttar Pradesh, India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1488" y="4486344"/>
            <a:ext cx="8258175" cy="15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650" dirty="0">
                <a:solidFill>
                  <a:srgbClr val="18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of Presentation: 9</a:t>
            </a:r>
            <a:r>
              <a:rPr lang="en-US" sz="1650" baseline="30000" dirty="0">
                <a:solidFill>
                  <a:srgbClr val="18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</a:t>
            </a:r>
            <a:r>
              <a:rPr lang="en-US" sz="1650" dirty="0">
                <a:solidFill>
                  <a:srgbClr val="18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April 2026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19100" y="4877096"/>
            <a:ext cx="17062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pic>
        <p:nvPicPr>
          <p:cNvPr id="19" name="Picture 1">
            <a:extLst>
              <a:ext uri="{FF2B5EF4-FFF2-40B4-BE49-F238E27FC236}">
                <a16:creationId xmlns:a16="http://schemas.microsoft.com/office/drawing/2014/main" id="{D653E3B8-EE7D-DE99-77D8-DB5725059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1" y="28279"/>
            <a:ext cx="1893887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85853620-DDA2-0180-18D8-728C50BFE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374" y="-24888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5707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38"/>
            <a:ext cx="4882662" cy="4615962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71488" y="206320"/>
            <a:ext cx="8258175" cy="58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34746" y="585216"/>
            <a:ext cx="7260724" cy="435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and Motivation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Literature/Related Work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Formulation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/ Proposed System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583B451C-5CBD-9C45-92DC-995A9D0CE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374" y="-352548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71F523D4-E466-66C5-DC70-B31F7FBB3F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934" y="4341775"/>
            <a:ext cx="2017713" cy="78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39"/>
            <a:ext cx="4501662" cy="4539762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28650" y="1295400"/>
            <a:ext cx="8020050" cy="371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acts both as a social signal and a personal comfort factor; inappropriate clothing can cause discomfort, embarrassment, or misrepresentation.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 proposes a Virtual Fashion Advisor that recommends outfits using contextual user inputs and AI APIs.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focuses on occasion-aware dressing guidance instead of only e-commerce personalization.</a:t>
            </a:r>
            <a:endParaRPr lang="en-US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evaluation reported approximately 80% alignment with user expectations.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E27F446E-28E5-D55D-C9D7-9099A8680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374" y="-24888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873F9832-8E2B-A6BD-B753-9EBCF6983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233" y="4465364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15300" y="171450"/>
            <a:ext cx="400050" cy="438150"/>
          </a:xfrm>
          <a:prstGeom prst="roundRect">
            <a:avLst>
              <a:gd name="adj" fmla="val 585366"/>
            </a:avLst>
          </a:prstGeom>
          <a:noFill/>
          <a:ln w="28575">
            <a:solidFill>
              <a:srgbClr val="6D7B8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766038" y="527539"/>
            <a:ext cx="4749312" cy="4539762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Motivation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28650" y="1295401"/>
            <a:ext cx="7886700" cy="3861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attire for different occasions is difficult because body type, skin undertone, cultural expectations, and comfort preferences all matter.</a:t>
            </a:r>
            <a:endParaRPr lang="en-US" sz="16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AI in fashion has advanced in trend prediction and virtual try-ons, but less work targets contextual dressing advice.</a:t>
            </a:r>
            <a:endParaRPr lang="en-US" sz="16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often lack styling guidance and face decision fatigue when many fashion options are available.</a:t>
            </a:r>
            <a:endParaRPr lang="en-US" sz="16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major development challenge was the absence of large annotated datasets covering body shape, skin tone, event context, and comfort preferences.</a:t>
            </a:r>
            <a:endParaRPr lang="en-US" sz="16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address this gap, the work adopts an API-based AI architecture instead of a fully trained data-hungry model.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E38CA6DC-ADDA-CEF0-6CC3-15E42EB7C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571" y="228600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35CAFC12-539B-0452-63A7-34E99D53E3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287" y="4437553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2124" y="0"/>
            <a:ext cx="9636124" cy="542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39"/>
            <a:ext cx="4975245" cy="4892782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02717" y="857846"/>
            <a:ext cx="3905250" cy="3067498"/>
          </a:xfrm>
          <a:prstGeom prst="roundRect">
            <a:avLst>
              <a:gd name="adj" fmla="val 33272"/>
            </a:avLst>
          </a:prstGeom>
          <a:solidFill>
            <a:srgbClr val="FFFFFF">
              <a:alpha val="38000"/>
            </a:srgbClr>
          </a:solidFill>
          <a:ln w="9525">
            <a:solidFill>
              <a:srgbClr val="788296"/>
            </a:solidFill>
          </a:ln>
          <a:effectLst>
            <a:outerShdw blurRad="190500" dist="76200" dir="5400000" algn="bl" rotWithShape="0">
              <a:srgbClr val="465064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88815" y="846119"/>
            <a:ext cx="3905250" cy="3079224"/>
          </a:xfrm>
          <a:prstGeom prst="roundRect">
            <a:avLst>
              <a:gd name="adj" fmla="val 33272"/>
            </a:avLst>
          </a:prstGeom>
          <a:solidFill>
            <a:srgbClr val="FFFFFF">
              <a:alpha val="38000"/>
            </a:srgbClr>
          </a:solidFill>
          <a:ln w="9525">
            <a:solidFill>
              <a:srgbClr val="788296"/>
            </a:solidFill>
          </a:ln>
          <a:effectLst>
            <a:outerShdw blurRad="190500" dist="76200" dir="5400000" algn="bl" rotWithShape="0">
              <a:srgbClr val="465064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Works</a:t>
            </a:r>
            <a:endParaRPr lang="en-US" sz="4050" dirty="0"/>
          </a:p>
        </p:txBody>
      </p:sp>
      <p:sp>
        <p:nvSpPr>
          <p:cNvPr id="9" name="Text 6"/>
          <p:cNvSpPr/>
          <p:nvPr/>
        </p:nvSpPr>
        <p:spPr>
          <a:xfrm>
            <a:off x="771525" y="1476375"/>
            <a:ext cx="35364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5"/>
              </a:lnSpc>
              <a:buNone/>
            </a:pPr>
            <a:r>
              <a:rPr lang="en-US" sz="19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techniques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71525" y="1857375"/>
            <a:ext cx="3467100" cy="2220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CNN + collaborative filtering</a:t>
            </a:r>
            <a:endParaRPr lang="en-US" sz="1200" dirty="0"/>
          </a:p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Visual-semantic embedding</a:t>
            </a:r>
            <a:endParaRPr lang="en-US" sz="1200" dirty="0"/>
          </a:p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Attention-based neural networks</a:t>
            </a:r>
            <a:endParaRPr lang="en-US" sz="1200" dirty="0"/>
          </a:p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RNN-based trend prediction</a:t>
            </a:r>
            <a:endParaRPr lang="en-US" sz="1200" dirty="0"/>
          </a:p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multimodal learning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62525" y="1476375"/>
            <a:ext cx="35364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5"/>
              </a:lnSpc>
              <a:buNone/>
            </a:pPr>
            <a:r>
              <a:rPr lang="en-US" sz="19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limitations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962525" y="1857375"/>
            <a:ext cx="3467100" cy="3009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Little awareness of body type or occasion</a:t>
            </a:r>
            <a:endParaRPr lang="en-US" sz="1200" dirty="0"/>
          </a:p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personalization and explainability</a:t>
            </a:r>
            <a:endParaRPr lang="en-US" sz="1200" dirty="0"/>
          </a:p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modeling of cultural context and comfort</a:t>
            </a:r>
            <a:endParaRPr lang="en-US" sz="1200" dirty="0"/>
          </a:p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computation and dataset dependency</a:t>
            </a:r>
            <a:endParaRPr lang="en-US" sz="1200" dirty="0"/>
          </a:p>
          <a:p>
            <a:pPr marL="342900" indent="-342900">
              <a:lnSpc>
                <a:spcPts val="207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complete styling advice in image retrieval methods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2450" y="3925344"/>
            <a:ext cx="8096250" cy="46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takeaway: most prior systems emphasize visual similarity and shopping relevance more than contextual styling guidance.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77CF2F7D-5B2C-ED2E-3D1B-C4F661657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374" y="-24888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D85B9DE5-9895-0E2F-63A6-6F53F3E03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470" y="4752975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39"/>
            <a:ext cx="4608342" cy="4539761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Formulation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28650" y="1295400"/>
            <a:ext cx="8020050" cy="4234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fashion recommendation systems mainly provide shopping recommendations rather than contextual styling advice.</a:t>
            </a:r>
            <a:endParaRPr lang="en-US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rarely consider body shape and proportions, skin undertone diversity, cultural and event context, and personal comfort preferences.</a:t>
            </a:r>
            <a:endParaRPr lang="en-US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Individuals face decision fatigue due to too many fashion choices, lack of event-appropriate guidance, limited draping knowledge, and ignored weather/comfort factors.</a:t>
            </a:r>
            <a:endParaRPr lang="en-US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question:</a:t>
            </a: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Can a rule-based software system recommend attire with reasonable accuracy for different occasions and comfort preferences?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7B980E39-992E-8033-C96A-044762AB3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374" y="-17268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C0DA1B46-D7C9-4EB8-955E-B922327D3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287" y="4393406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">
            <a:extLst>
              <a:ext uri="{FF2B5EF4-FFF2-40B4-BE49-F238E27FC236}">
                <a16:creationId xmlns:a16="http://schemas.microsoft.com/office/drawing/2014/main" id="{3EF8BBBA-A454-D4C4-EAF7-1FB2CF47352C}"/>
              </a:ext>
            </a:extLst>
          </p:cNvPr>
          <p:cNvSpPr/>
          <p:nvPr/>
        </p:nvSpPr>
        <p:spPr>
          <a:xfrm>
            <a:off x="6291080" y="3890741"/>
            <a:ext cx="2406219" cy="628649"/>
          </a:xfrm>
          <a:prstGeom prst="roundRect">
            <a:avLst>
              <a:gd name="adj" fmla="val 101722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646E7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970"/>
              </a:lnSpc>
            </a:pPr>
            <a:endParaRPr lang="en-US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4300" y="527539"/>
            <a:ext cx="4882662" cy="4444512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628650" y="1295400"/>
            <a:ext cx="8020050" cy="3810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proposed solution is a context-aware digital fashion advisor built within the domains of recommender systems, artificial intelligence in fashion, and decision support systems.</a:t>
            </a:r>
            <a:endParaRPr lang="en-US" sz="20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Its innovations include context-aware recommendation, integration of AI APIs instead of traditional model training, hybrid AI plus rule-based filtering, and low computational demand.</a:t>
            </a:r>
            <a:endParaRPr lang="en-US" sz="200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is lightweight and suitable for early-stage prototype deployment where annotated datasets are limited.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0631" y="3890741"/>
            <a:ext cx="2228037" cy="49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52475" y="4381501"/>
            <a:ext cx="2184350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508325" y="4229101"/>
            <a:ext cx="2184350" cy="352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242331" y="3890741"/>
            <a:ext cx="2530194" cy="1214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242331" y="6000899"/>
            <a:ext cx="22281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72B242D5-690E-A6CA-8484-3E4C6A438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730" y="-95399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5">
            <a:extLst>
              <a:ext uri="{FF2B5EF4-FFF2-40B4-BE49-F238E27FC236}">
                <a16:creationId xmlns:a16="http://schemas.microsoft.com/office/drawing/2014/main" id="{EB257803-240C-57D1-8E29-104022D4C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849" y="4319663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15300" y="171450"/>
            <a:ext cx="781050" cy="781050"/>
          </a:xfrm>
          <a:prstGeom prst="roundRect">
            <a:avLst>
              <a:gd name="adj" fmla="val 585366"/>
            </a:avLst>
          </a:prstGeom>
          <a:noFill/>
          <a:ln w="28575">
            <a:solidFill>
              <a:srgbClr val="6D7B8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766038" y="527539"/>
            <a:ext cx="4692162" cy="4633230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19100" y="1409700"/>
            <a:ext cx="2409472" cy="1600348"/>
          </a:xfrm>
          <a:prstGeom prst="roundRect">
            <a:avLst>
              <a:gd name="adj" fmla="val 51217"/>
            </a:avLst>
          </a:prstGeom>
          <a:solidFill>
            <a:srgbClr val="FFFFFF"/>
          </a:solidFill>
          <a:ln w="19050">
            <a:solidFill>
              <a:srgbClr val="858C9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84064" y="1441402"/>
            <a:ext cx="2401733" cy="1374724"/>
          </a:xfrm>
          <a:prstGeom prst="roundRect">
            <a:avLst>
              <a:gd name="adj" fmla="val 67516"/>
            </a:avLst>
          </a:prstGeom>
          <a:solidFill>
            <a:srgbClr val="FFFFFF"/>
          </a:solidFill>
          <a:ln w="19050">
            <a:solidFill>
              <a:srgbClr val="858C9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781800" y="1611809"/>
            <a:ext cx="1866752" cy="1157615"/>
          </a:xfrm>
          <a:prstGeom prst="roundRect">
            <a:avLst>
              <a:gd name="adj" fmla="val 66207"/>
            </a:avLst>
          </a:prstGeom>
          <a:solidFill>
            <a:srgbClr val="FFFFFF"/>
          </a:solidFill>
          <a:ln w="19050">
            <a:solidFill>
              <a:srgbClr val="858C9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52450" y="3384947"/>
            <a:ext cx="2147441" cy="1116508"/>
          </a:xfrm>
          <a:prstGeom prst="roundRect">
            <a:avLst>
              <a:gd name="adj" fmla="val 66207"/>
            </a:avLst>
          </a:prstGeom>
          <a:solidFill>
            <a:srgbClr val="FFFFFF"/>
          </a:solidFill>
          <a:ln w="19050">
            <a:solidFill>
              <a:srgbClr val="858C9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33465" y="3347442"/>
            <a:ext cx="2147441" cy="1154013"/>
          </a:xfrm>
          <a:prstGeom prst="roundRect">
            <a:avLst>
              <a:gd name="adj" fmla="val 62796"/>
            </a:avLst>
          </a:prstGeom>
          <a:solidFill>
            <a:srgbClr val="FFFFFF"/>
          </a:solidFill>
          <a:ln w="19050">
            <a:solidFill>
              <a:srgbClr val="858C9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14480" y="3384948"/>
            <a:ext cx="2334071" cy="1116508"/>
          </a:xfrm>
          <a:prstGeom prst="roundRect">
            <a:avLst>
              <a:gd name="adj" fmla="val 66207"/>
            </a:avLst>
          </a:prstGeom>
          <a:solidFill>
            <a:srgbClr val="FFFFFF"/>
          </a:solidFill>
          <a:ln w="19050">
            <a:solidFill>
              <a:srgbClr val="858C9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JIMS EMTC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4050" dirty="0"/>
          </a:p>
        </p:txBody>
      </p:sp>
      <p:sp>
        <p:nvSpPr>
          <p:cNvPr id="13" name="Text 10"/>
          <p:cNvSpPr/>
          <p:nvPr/>
        </p:nvSpPr>
        <p:spPr>
          <a:xfrm>
            <a:off x="667772" y="1524000"/>
            <a:ext cx="18388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5800" y="1800225"/>
            <a:ext cx="1802755" cy="1280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2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shape</a:t>
            </a:r>
            <a:endParaRPr lang="en-US" sz="1425" dirty="0"/>
          </a:p>
          <a:p>
            <a:pPr marL="0" indent="0" algn="ctr">
              <a:lnSpc>
                <a:spcPts val="1682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tone</a:t>
            </a:r>
            <a:endParaRPr lang="en-US" sz="1425" dirty="0"/>
          </a:p>
          <a:p>
            <a:pPr marL="0" indent="0" algn="ctr">
              <a:lnSpc>
                <a:spcPts val="1682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context</a:t>
            </a:r>
            <a:endParaRPr lang="en-US" sz="1425" dirty="0"/>
          </a:p>
          <a:p>
            <a:pPr marL="0" indent="0" algn="ctr">
              <a:lnSpc>
                <a:spcPts val="1682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Occasion &amp; comfort</a:t>
            </a:r>
            <a:endParaRPr lang="en-US" sz="1425" dirty="0"/>
          </a:p>
          <a:p>
            <a:pPr marL="0" indent="0" algn="ctr">
              <a:lnSpc>
                <a:spcPts val="1682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 color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2742658" y="2069009"/>
            <a:ext cx="12848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35"/>
              </a:lnSpc>
              <a:buNone/>
            </a:pPr>
            <a:r>
              <a:rPr lang="en-US" sz="31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150" dirty="0"/>
          </a:p>
        </p:txBody>
      </p:sp>
      <p:sp>
        <p:nvSpPr>
          <p:cNvPr id="16" name="Text 13"/>
          <p:cNvSpPr/>
          <p:nvPr/>
        </p:nvSpPr>
        <p:spPr>
          <a:xfrm>
            <a:off x="4281636" y="1594693"/>
            <a:ext cx="10876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281635" y="2070943"/>
            <a:ext cx="1469885" cy="579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9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user data to AI APIs such as GPT or Gemini.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5950743" y="2069009"/>
            <a:ext cx="115460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35"/>
              </a:lnSpc>
              <a:buNone/>
            </a:pPr>
            <a:r>
              <a:rPr lang="en-US" sz="31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150" dirty="0"/>
          </a:p>
        </p:txBody>
      </p:sp>
      <p:sp>
        <p:nvSpPr>
          <p:cNvPr id="19" name="Text 16"/>
          <p:cNvSpPr/>
          <p:nvPr/>
        </p:nvSpPr>
        <p:spPr>
          <a:xfrm>
            <a:off x="7148825" y="1788616"/>
            <a:ext cx="13799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162354" y="2064841"/>
            <a:ext cx="1352848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9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inputs and generate outfit suggestions.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685800" y="3555653"/>
            <a:ext cx="188074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Generation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85801" y="3822354"/>
            <a:ext cx="18027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9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 styling suggestions into structured outputs.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2828572" y="3842147"/>
            <a:ext cx="47621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35"/>
              </a:lnSpc>
              <a:buNone/>
            </a:pPr>
            <a:r>
              <a:rPr lang="en-US" sz="31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150" dirty="0"/>
          </a:p>
        </p:txBody>
      </p:sp>
      <p:sp>
        <p:nvSpPr>
          <p:cNvPr id="24" name="Text 21"/>
          <p:cNvSpPr/>
          <p:nvPr/>
        </p:nvSpPr>
        <p:spPr>
          <a:xfrm>
            <a:off x="3566815" y="3461742"/>
            <a:ext cx="188074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Filtering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566816" y="3764280"/>
            <a:ext cx="1814254" cy="45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9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contextual checks for appropriateness and comfort.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5709587" y="3842147"/>
            <a:ext cx="47621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35"/>
              </a:lnSpc>
              <a:buNone/>
            </a:pPr>
            <a:r>
              <a:rPr lang="en-US" sz="31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150" dirty="0"/>
          </a:p>
        </p:txBody>
      </p:sp>
      <p:sp>
        <p:nvSpPr>
          <p:cNvPr id="27" name="Text 24"/>
          <p:cNvSpPr/>
          <p:nvPr/>
        </p:nvSpPr>
        <p:spPr>
          <a:xfrm>
            <a:off x="6447830" y="3649563"/>
            <a:ext cx="20673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Fashion Advice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447830" y="3963263"/>
            <a:ext cx="2080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9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 final attire and style recommendations.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31" name="Picture 3">
            <a:extLst>
              <a:ext uri="{FF2B5EF4-FFF2-40B4-BE49-F238E27FC236}">
                <a16:creationId xmlns:a16="http://schemas.microsoft.com/office/drawing/2014/main" id="{3B216403-5D8F-E6F2-3E23-9A9B1C1A3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374" y="-17268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5">
            <a:extLst>
              <a:ext uri="{FF2B5EF4-FFF2-40B4-BE49-F238E27FC236}">
                <a16:creationId xmlns:a16="http://schemas.microsoft.com/office/drawing/2014/main" id="{4F554741-15FC-9C66-C9DD-6CF4B1CBCB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41" y="4501456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40"/>
            <a:ext cx="4539762" cy="4444510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28650" y="1295400"/>
            <a:ext cx="8020050" cy="2779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user attributes: occasion, body type, undertone, and comfort preference.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 user inputs into structured prompts.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prompts to AI APIs.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generated outfit suggestions.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rule-based contextual filters to refine outputs.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 final recommendations to the user.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552450" y="3760465"/>
            <a:ext cx="8096250" cy="5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modular workflow supports future integration of machine learning models without redesigning the full system.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36606870-1B6D-81F0-0ACC-5DE5819D9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460" y="-53636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E6937524-83F8-3244-2BD4-2F50FD9C96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087" y="4468788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04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40"/>
            <a:ext cx="4501662" cy="4516900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52450" y="1295400"/>
            <a:ext cx="2584400" cy="1543851"/>
          </a:xfrm>
          <a:prstGeom prst="roundRect">
            <a:avLst>
              <a:gd name="adj" fmla="val 764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646E7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308300" y="1295401"/>
            <a:ext cx="2584400" cy="1543852"/>
          </a:xfrm>
          <a:prstGeom prst="roundRect">
            <a:avLst>
              <a:gd name="adj" fmla="val 764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646E7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64151" y="1295401"/>
            <a:ext cx="2584549" cy="1543852"/>
          </a:xfrm>
          <a:prstGeom prst="roundRect">
            <a:avLst>
              <a:gd name="adj" fmla="val 764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646E7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730631" y="1495425"/>
            <a:ext cx="2228037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3300" b="1" dirty="0">
                <a:solidFill>
                  <a:srgbClr val="123C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16/20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752475" y="2057400"/>
            <a:ext cx="2184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 recommendations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486482" y="1495425"/>
            <a:ext cx="2228037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3300" b="1" dirty="0">
                <a:solidFill>
                  <a:srgbClr val="123C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3508325" y="2057400"/>
            <a:ext cx="2184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Approximate accuracy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242331" y="1495425"/>
            <a:ext cx="222818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3300" b="1" dirty="0">
                <a:solidFill>
                  <a:srgbClr val="123C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0.1 s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6264176" y="2057400"/>
            <a:ext cx="2184499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processing time</a:t>
            </a:r>
            <a:endParaRPr lang="en-US" sz="1650" dirty="0"/>
          </a:p>
          <a:p>
            <a:pPr marL="0" indent="0" algn="ctr">
              <a:lnSpc>
                <a:spcPts val="1485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(excluding API latency)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28650" y="2913046"/>
            <a:ext cx="7639050" cy="105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was conducted using multiple scenarios.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remained lightweight during backend processing.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results indicate strong alignment between generated recommendations and user expectations for prototype-stage testing.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9799C3B8-0446-7628-4465-E4186A931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007" y="-73795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FF415730-0A54-AC3A-C2FB-3DC8790E26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287" y="4424363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40"/>
            <a:ext cx="4749312" cy="4509280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50756"/>
              </p:ext>
            </p:extLst>
          </p:nvPr>
        </p:nvGraphicFramePr>
        <p:xfrm>
          <a:off x="552450" y="1695450"/>
          <a:ext cx="8172450" cy="1874520"/>
        </p:xfrm>
        <a:graphic>
          <a:graphicData uri="http://schemas.openxmlformats.org/drawingml/2006/table">
            <a:tbl>
              <a:tblPr/>
              <a:tblGrid>
                <a:gridCol w="1634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5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Occasion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Gender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Comfort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Recommended Attire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5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Wedding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Female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Morning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High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Saree, Lehenga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Interview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Male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Morning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Medium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Formal Shirt, Tie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5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Party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Female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Night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Medium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Cocktail Dress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7" name="Text 3"/>
          <p:cNvSpPr/>
          <p:nvPr/>
        </p:nvSpPr>
        <p:spPr>
          <a:xfrm>
            <a:off x="552450" y="438150"/>
            <a:ext cx="809625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Recommendation Cases</a:t>
            </a:r>
            <a:endParaRPr lang="en-US" sz="4050" dirty="0"/>
          </a:p>
        </p:txBody>
      </p:sp>
      <p:sp>
        <p:nvSpPr>
          <p:cNvPr id="8" name="Text 4"/>
          <p:cNvSpPr/>
          <p:nvPr/>
        </p:nvSpPr>
        <p:spPr>
          <a:xfrm>
            <a:off x="471488" y="1359217"/>
            <a:ext cx="8258175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dataset schema for outfit recommendation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8650" y="3693941"/>
            <a:ext cx="8096250" cy="122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sample cases show that recommendations change according to occasion, time, and comfort level.</a:t>
            </a:r>
            <a:endParaRPr lang="en-US" sz="1400" dirty="0"/>
          </a:p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supports the paper's claim that contextual inputs improve recommendation specificity.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9AB07453-95F7-0FF3-797E-3313E49D3D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150" y="-77455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1D7D69D9-749D-3B3C-B83B-76EC4012E2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287" y="4555331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40"/>
            <a:ext cx="4825513" cy="4534045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074455"/>
              </p:ext>
            </p:extLst>
          </p:nvPr>
        </p:nvGraphicFramePr>
        <p:xfrm>
          <a:off x="552449" y="1295400"/>
          <a:ext cx="7959092" cy="2130644"/>
        </p:xfrm>
        <a:graphic>
          <a:graphicData uri="http://schemas.openxmlformats.org/drawingml/2006/table">
            <a:tbl>
              <a:tblPr/>
              <a:tblGrid>
                <a:gridCol w="1989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9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9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8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Approach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Dataset Requirement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Complexity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Context Awareness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Deep Learning Models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High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High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Limited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8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Graph Neural Networks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High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High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Partial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Proposed System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Low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Low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111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High</a:t>
                      </a:r>
                      <a:endParaRPr lang="en-US" sz="16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7" name="Text 3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sz="4050" dirty="0"/>
          </a:p>
        </p:txBody>
      </p:sp>
      <p:sp>
        <p:nvSpPr>
          <p:cNvPr id="8" name="Text 4"/>
          <p:cNvSpPr/>
          <p:nvPr/>
        </p:nvSpPr>
        <p:spPr>
          <a:xfrm>
            <a:off x="243840" y="3426045"/>
            <a:ext cx="8660320" cy="974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Compared with traditional deep learning and graph neural network approaches, the proposed API-driven system reduces both data dependency and computational burden.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29672" y="4629150"/>
            <a:ext cx="16957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6B37F1E0-5A15-B34C-96CF-FEDEAD97CF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374" y="-24888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67E79B4D-39CE-7023-E210-7473DD846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453" y="4513753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40"/>
            <a:ext cx="4749312" cy="4524520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28650" y="1295400"/>
            <a:ext cx="8020050" cy="357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achieved accuracy is supported by three main factors: pretrained AI model knowledge, contextual filtering rules, and structured prompt design.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is practical for prototyping because it works without extensive dataset training.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balances recommendation relevance with low computational cost.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Its main limitation is that personalization depth is constrained by available API responses and the lack of rich fashion datasets.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EA3EC676-712C-69D0-CD45-08E0C35FE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235" y="-68580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38C64A75-BAE5-95D8-5E82-CD8707238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378" y="4413885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40"/>
            <a:ext cx="4669302" cy="4547380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28650" y="1295400"/>
            <a:ext cx="8020050" cy="3152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 demonstrates that a rule-based virtual fashion advisor combined with AI APIs can provide context-aware outfit recommendations with approximately 80% accuracy.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lightweight architecture makes the system suitable for early-stage prototypes and practical real-world applications.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shows that useful recommendation quality can be achieved even when large annotated datasets are unavailable.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CE5EF07B-B23D-CFB8-FAF7-8BB91720E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551" y="-141272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FDB2ADAB-C3BF-B208-7474-7B0CAA1111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390073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40"/>
            <a:ext cx="4749312" cy="4564525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28650" y="1295400"/>
            <a:ext cx="8020050" cy="2684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 collaborative filtering and reinforcement learning.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computer-vision-based outfit analysis and body type estimation.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 the platform with AR/VR virtual try-on support.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Incorporate weather-based outfit recommendations.</a:t>
            </a:r>
            <a:endParaRPr lang="en-US" sz="2025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2025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the system as a full web and mobile application.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D744B90F-BFD7-7495-698F-603E412D5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420" y="-72273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69A603AF-215E-776B-BF24-474AD254BE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332" y="4338028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6038" y="527540"/>
            <a:ext cx="4661682" cy="4555000"/>
          </a:xfrm>
          <a:prstGeom prst="roundRect">
            <a:avLst>
              <a:gd name="adj" fmla="val 90698"/>
            </a:avLst>
          </a:prstGeom>
          <a:noFill/>
          <a:ln w="66675">
            <a:solidFill>
              <a:srgbClr val="92A3B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07489" y="990600"/>
            <a:ext cx="796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71488" y="438150"/>
            <a:ext cx="8258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45"/>
              </a:lnSpc>
              <a:buNone/>
            </a:pPr>
            <a:r>
              <a:rPr lang="en-US" sz="40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28650" y="1295400"/>
            <a:ext cx="8020050" cy="2989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0"/>
              </a:lnSpc>
              <a:buSzPct val="100000"/>
              <a:buChar char="•"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J. McAuley et al., “Image-based recommendations on styles and substitutes,” SIGIR, 2015.</a:t>
            </a:r>
            <a:endParaRPr lang="en-US" sz="1650" dirty="0"/>
          </a:p>
          <a:p>
            <a:pPr marL="342900" indent="-342900">
              <a:lnSpc>
                <a:spcPts val="1980"/>
              </a:lnSpc>
              <a:buSzPct val="100000"/>
              <a:buChar char="•"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Q. Chen and L. Li, “AI in Fashion: From Style Transfer to Virtual Try-On,” Journal of Fashion Technology, 2021.</a:t>
            </a:r>
            <a:endParaRPr lang="en-US" sz="1650" dirty="0"/>
          </a:p>
          <a:p>
            <a:pPr marL="342900" indent="-342900">
              <a:lnSpc>
                <a:spcPts val="1980"/>
              </a:lnSpc>
              <a:buSzPct val="100000"/>
              <a:buChar char="•"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Myntra Fashion Recommendation Documentation.</a:t>
            </a:r>
            <a:endParaRPr lang="en-US" sz="1650" dirty="0"/>
          </a:p>
          <a:p>
            <a:pPr marL="342900" indent="-342900">
              <a:lnSpc>
                <a:spcPts val="1980"/>
              </a:lnSpc>
              <a:buSzPct val="100000"/>
              <a:buChar char="•"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AI – Personalized Recommendations in E-commerce.</a:t>
            </a:r>
            <a:endParaRPr lang="en-US" sz="1650" dirty="0"/>
          </a:p>
          <a:p>
            <a:pPr marL="342900" indent="-342900">
              <a:lnSpc>
                <a:spcPts val="1980"/>
              </a:lnSpc>
              <a:buSzPct val="100000"/>
              <a:buChar char="•"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 Russell and P. Norvig, </a:t>
            </a:r>
            <a:r>
              <a:rPr lang="en-US" sz="165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Intelligence: A Modern Approach</a:t>
            </a: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3rd ed., 2016.</a:t>
            </a:r>
            <a:endParaRPr lang="en-US" sz="1650" dirty="0"/>
          </a:p>
          <a:p>
            <a:pPr marL="342900" indent="-342900">
              <a:lnSpc>
                <a:spcPts val="1980"/>
              </a:lnSpc>
              <a:buSzPct val="100000"/>
              <a:buChar char="•"/>
            </a:pPr>
            <a:r>
              <a:rPr lang="en-US" sz="165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Y. Ding et al., “Computational Technologies for Fashion Recommendation: A Survey,” 2023.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19100" y="4629150"/>
            <a:ext cx="17062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650" b="1" dirty="0">
                <a:solidFill>
                  <a:srgbClr val="D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ICSAICS-2026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7138" y="4734967"/>
            <a:ext cx="1209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endParaRPr lang="en-US" sz="1350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3CD4904C-8EDD-CE5B-868F-E21E076A21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282" y="-141272"/>
            <a:ext cx="1209580" cy="143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D3B795FD-782E-CACA-4A18-98F8125A6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632" y="4424363"/>
            <a:ext cx="2017713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1118</Words>
  <Application>Microsoft Office PowerPoint</Application>
  <PresentationFormat>On-screen Show (16:9)</PresentationFormat>
  <Paragraphs>196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Anugya Gupta</cp:lastModifiedBy>
  <cp:revision>3</cp:revision>
  <dcterms:created xsi:type="dcterms:W3CDTF">2026-04-07T04:28:53Z</dcterms:created>
  <dcterms:modified xsi:type="dcterms:W3CDTF">2026-05-05T10:20:40Z</dcterms:modified>
</cp:coreProperties>
</file>